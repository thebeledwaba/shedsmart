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256032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Load-Shedding Stage Forecasting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LSTM Time-Series Classification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64008" cy="4983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Thebe Ledwaba  ·  Precious Skosana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57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EIARI4A  |  Final Year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90472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6712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854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4378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Shift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5387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97096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9709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2153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Tuning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490472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90472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167128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16712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18541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Persistence Won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843784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4378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75488" cy="42062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52044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5387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8080" y="274320"/>
            <a:ext cx="2286000" cy="2286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21671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214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Load-shedding alerts show current stage — not future stages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2549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797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public forecasting tool exists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483864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381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time you know, it's too late to prepare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388620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916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TARGETS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103120"/>
            <a:ext cx="73152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103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2103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2404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971800"/>
            <a:ext cx="73152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971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971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1.0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32735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Mean Square Error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840480"/>
            <a:ext cx="73152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8404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840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0640" y="41422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than baseline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ESK2033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Eskom Hourly Grid Metrics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43,000+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3931920" cy="146304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463040"/>
            <a:ext cx="39319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72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EskomSePush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History (resampled)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Hourly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49440" y="2441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fill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2258568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11296"/>
            <a:ext cx="2258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Lag 1h / 24h / 48h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52928" y="3493008"/>
            <a:ext cx="2574036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2928" y="3511296"/>
            <a:ext cx="257403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Sin/Cos Hour Encoding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64124" y="3493008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4124" y="3511296"/>
            <a:ext cx="2468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Sin/Cos Day Encoding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2679192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0208"/>
            <a:ext cx="26791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Sin/Cos Month Encoding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3931920"/>
            <a:ext cx="2153412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950208"/>
            <a:ext cx="21534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12h Rolling Stats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64124" y="393192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4124" y="3950208"/>
            <a:ext cx="2468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Eskom Grid 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70832"/>
            <a:ext cx="2048256" cy="320040"/>
          </a:xfrm>
          <a:prstGeom prst="roundRect">
            <a:avLst>
              <a:gd name="adj" fmla="val 14286"/>
            </a:avLst>
          </a:prstGeom>
          <a:solidFill>
            <a:srgbClr val="1A2E4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89120"/>
            <a:ext cx="20482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Window: 24 hours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Distribution Shift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single biggest reason our LSTM struggled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5603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931920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74520"/>
            <a:ext cx="3712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 2018–2021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Dominant Stage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692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 of hours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657600"/>
            <a:ext cx="3712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3–6 barely existed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828800"/>
            <a:ext cx="3931920" cy="2560320"/>
          </a:xfrm>
          <a:prstGeom prst="rect">
            <a:avLst/>
          </a:prstGeom>
          <a:solidFill>
            <a:srgbClr val="16203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828800"/>
            <a:ext cx="3931920" cy="502920"/>
          </a:xfrm>
          <a:prstGeom prst="rect">
            <a:avLst/>
          </a:prstGeom>
          <a:solidFill>
            <a:srgbClr val="E63946">
              <a:alpha val="8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874520"/>
            <a:ext cx="3712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 2022–2023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Dominant Stage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2743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1032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34% of hours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3657600"/>
            <a:ext cx="3712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Non-zero stages. Stage 4: 750 hrs. Stage 6: 300+ hrs.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834640"/>
            <a:ext cx="640080" cy="6400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85292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200" dirty="0"/>
          </a:p>
        </p:txBody>
      </p:sp>
      <p:sp>
        <p:nvSpPr>
          <p:cNvPr id="99" name="NoteBox"/>
          <p:cNvSpPr>
            <a:spLocks noGrp="1"/>
          </p:cNvSpPr>
          <p:nvPr/>
        </p:nvSpPr>
        <p:spPr>
          <a:xfrm>
            <a:off x="457200" y="6200000"/>
            <a:ext cx="8229600" cy="3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ZA" sz="900" i="1" dirty="0">
                <a:solidFill>
                  <a:srgbClr val="888888"/>
                </a:solidFill>
              </a:rPr>
              <a:t>Note: This analysis contextualises future deployment risk — primary evaluation was conducted on the March–July 2022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Three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3108960"/>
          </a:xfrm>
          <a:prstGeom prst="rect">
            <a:avLst/>
          </a:prstGeom>
          <a:solidFill>
            <a:srgbClr val="162032"/>
          </a:solidFill>
          <a:ln w="19050">
            <a:solidFill>
              <a:srgbClr val="A8DA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2240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" y="3063240"/>
            <a:ext cx="2468880" cy="36576"/>
          </a:xfrm>
          <a:prstGeom prst="rect">
            <a:avLst/>
          </a:prstGeom>
          <a:solidFill>
            <a:srgbClr val="A8DADC">
              <a:alpha val="50000"/>
            </a:srgbClr>
          </a:solidFill>
          <a:ln w="12700">
            <a:solidFill>
              <a:srgbClr val="A8DADC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" y="3268980"/>
            <a:ext cx="82296" cy="82296"/>
          </a:xfrm>
          <a:prstGeom prst="ellipse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18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hour = current hour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" y="3744468"/>
            <a:ext cx="82296" cy="82296"/>
          </a:xfrm>
          <a:prstGeom prst="ellipse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941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during stable periods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697480" cy="31089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01568" y="2240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01568" y="3063240"/>
            <a:ext cx="246888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1860" y="326898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218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Multiclass + class weights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51860" y="3744468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6941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16 engineered features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697480" cy="3108960"/>
          </a:xfrm>
          <a:prstGeom prst="rect">
            <a:avLst/>
          </a:prstGeom>
          <a:solidFill>
            <a:srgbClr val="162032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27648" y="2240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Stacked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7648" y="3063240"/>
            <a:ext cx="2468880" cy="36576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7940" y="3268980"/>
            <a:ext cx="82296" cy="822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218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LSTM layers + dropout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77940" y="3744468"/>
            <a:ext cx="82296" cy="822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6941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Softmax output, cross-entropy loss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736592"/>
            <a:ext cx="27432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36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Train: 2020–2021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4736592"/>
            <a:ext cx="27432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736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Validation: 2021–2022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736592"/>
            <a:ext cx="274320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736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Test: 2022–2023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745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Combinations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8745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916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4688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TimeSeriesSplit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18745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916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508760"/>
            <a:ext cx="18745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916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246888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325880"/>
          </a:xfrm>
          <a:prstGeom prst="rect">
            <a:avLst/>
          </a:prstGeom>
          <a:solidFill>
            <a:srgbClr val="1A2E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73152" cy="1325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CONFIGURATION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39136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 Units  ·  0.2 Dropout  ·  Learning Rate 0.001  ·  Saved in tuning_log.csv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March–July 2022 Test 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3108960"/>
          </a:xfrm>
          <a:prstGeom prst="rect">
            <a:avLst/>
          </a:prstGeom>
          <a:solidFill>
            <a:srgbClr val="162032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58191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9105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" y="2761488"/>
            <a:ext cx="2468880" cy="36576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52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9044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91.5%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97480" cy="31089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58191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59105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01568" y="2761488"/>
            <a:ext cx="2468880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852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01568" y="309067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01568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39044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72.0%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697480" cy="3108960"/>
          </a:xfrm>
          <a:prstGeom prst="rect">
            <a:avLst/>
          </a:prstGeom>
          <a:solidFill>
            <a:srgbClr val="16203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581912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59105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7648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Stacked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27648" y="2761488"/>
            <a:ext cx="2468880" cy="36576"/>
          </a:xfrm>
          <a:prstGeom prst="rect">
            <a:avLst/>
          </a:prstGeom>
          <a:solidFill>
            <a:srgbClr val="E63946">
              <a:alpha val="4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2852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7648" y="309067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1.398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27648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7648" y="39044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LSTM: 0% recall on Stages 3–6  ·  112% worse than persistence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Persistence Won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49047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Shift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61872" y="191109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on 2018–2021 (Stage 0 world) · Tested on 2023 (Stage 4 world)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06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258775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Few High-Stage Examples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61872" y="300837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52 Stage 3 · 77 Stage 4 · 0 Stage 5 training examples — can't learn what it never saw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68503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 Was a Chronic Crisis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61872" y="410565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persisted for days — 'same as last hour' is almost always right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530352"/>
          </a:xfrm>
          <a:prstGeom prst="rect">
            <a:avLst/>
          </a:prstGeom>
          <a:solidFill>
            <a:srgbClr val="1A2E4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5079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LSTM wasn't wrong — it was unprepared for a test period that looked nothing like its training data.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These were my design choices — not limitations of LSTMs in general.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512064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7510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data: 2018–2021 only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2257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Should have used 2022–2024 data with real crisis patterns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80360"/>
            <a:ext cx="512064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44952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3522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24-hour window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 window sizes and dynamic windows were not explored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804672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512064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exogenous variables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24281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data, maintenance schedules, holiday calendar all influence real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5506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Retrain on 2022–2024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Stage 4–6 examples — this single change could flip the results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8229600" cy="7315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523744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3288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386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75234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 during stable periods · LSTM only when transition is likely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8229600" cy="7315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401568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1071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exogenous features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301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Temperature, winter flags, public holidays for better context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7315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279392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8853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142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classification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50799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predict: will load-shedding happen? Then: which stage?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4114800" cy="4114800"/>
          </a:xfrm>
          <a:prstGeom prst="ellipse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48CAE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256032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64008" cy="4983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for listening!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Thebe Ledwaba  ·  Precious Skosana  |  EIARI4A Final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Load-Shedding LSTM Forecasting</dc:title>
  <dc:subject>PptxGenJS Presentation</dc:subject>
  <dc:creator>PptxGenJS</dc:creator>
  <cp:lastModifiedBy>PptxGenJS</cp:lastModifiedBy>
  <cp:revision>1</cp:revision>
  <dcterms:created xsi:type="dcterms:W3CDTF">2026-05-16T06:39:57Z</dcterms:created>
  <dcterms:modified xsi:type="dcterms:W3CDTF">2026-05-16T06:39:57Z</dcterms:modified>
</cp:coreProperties>
</file>